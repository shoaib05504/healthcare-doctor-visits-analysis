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4"/>
  </p:notesMasterIdLst>
  <p:handoutMasterIdLst>
    <p:handoutMasterId r:id="rId15"/>
  </p:handoutMasterIdLst>
  <p:sldIdLst>
    <p:sldId id="338" r:id="rId5"/>
    <p:sldId id="327" r:id="rId6"/>
    <p:sldId id="315" r:id="rId7"/>
    <p:sldId id="329" r:id="rId8"/>
    <p:sldId id="302" r:id="rId9"/>
    <p:sldId id="339" r:id="rId10"/>
    <p:sldId id="340" r:id="rId11"/>
    <p:sldId id="341" r:id="rId12"/>
    <p:sldId id="304"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10/2/2026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10/2/2026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10/2/2026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10/2/2026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10/2/2026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Shoaib05504/Healthcare-Doctor-Visits-Analysis.git" TargetMode="External"/><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Shoaib05504/Healthcare-Doctor-Visits-Analysis.git" TargetMode="External"/><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Shoaib05504/Healthcare-Doctor-Visits-Analysis.git" TargetMode="External"/><Relationship Id="rId7"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hyperlink" Target="https://github.com/Shoaib05504/Healthcare-Doctor-Visits-Analysis.git" TargetMode="Externa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1563590" y="2687636"/>
            <a:ext cx="8532134" cy="1074225"/>
          </a:xfrm>
        </p:spPr>
        <p:txBody>
          <a:bodyPr>
            <a:normAutofit fontScale="90000"/>
          </a:bodyPr>
          <a:lstStyle/>
          <a:p>
            <a:pPr algn="ctr"/>
            <a:r>
              <a:rPr lang="en-GB" sz="3600" b="1" dirty="0">
                <a:latin typeface="Times New Roman" panose="02020603050405020304" pitchFamily="18" charset="0"/>
                <a:cs typeface="Times New Roman" panose="02020603050405020304" pitchFamily="18" charset="0"/>
              </a:rPr>
              <a:t>Project Title </a:t>
            </a:r>
            <a:r>
              <a:rPr lang="en-GB" sz="3200" dirty="0">
                <a:latin typeface="Times New Roman" panose="02020603050405020304" pitchFamily="18" charset="0"/>
                <a:cs typeface="Times New Roman" panose="02020603050405020304" pitchFamily="18" charset="0"/>
              </a:rPr>
              <a:t>- </a:t>
            </a:r>
            <a:r>
              <a:rPr lang="en-IN" sz="3100" b="1" dirty="0">
                <a:latin typeface="Times New Roman" panose="02020603050405020304" pitchFamily="18" charset="0"/>
                <a:cs typeface="Times New Roman" panose="02020603050405020304" pitchFamily="18" charset="0"/>
              </a:rPr>
              <a:t>Healthcare Analytics for</a:t>
            </a:r>
            <a:br>
              <a:rPr lang="en-IN" sz="3100" b="1" dirty="0">
                <a:latin typeface="Times New Roman" panose="02020603050405020304" pitchFamily="18" charset="0"/>
                <a:cs typeface="Times New Roman" panose="02020603050405020304" pitchFamily="18" charset="0"/>
              </a:rPr>
            </a:br>
            <a:r>
              <a:rPr lang="en-IN" sz="3100" b="1" dirty="0">
                <a:latin typeface="Times New Roman" panose="02020603050405020304" pitchFamily="18" charset="0"/>
                <a:cs typeface="Times New Roman" panose="02020603050405020304" pitchFamily="18" charset="0"/>
              </a:rPr>
              <a:t>                            Doctor Visits  </a:t>
            </a:r>
            <a:br>
              <a:rPr lang="en-IN" sz="3100" b="1" dirty="0">
                <a:latin typeface="Times New Roman" panose="02020603050405020304" pitchFamily="18" charset="0"/>
                <a:cs typeface="Times New Roman" panose="02020603050405020304" pitchFamily="18" charset="0"/>
              </a:rPr>
            </a:br>
            <a:endParaRPr lang="en-IN" sz="3100" b="1" dirty="0">
              <a:latin typeface="Times New Roman" panose="02020603050405020304" pitchFamily="18" charset="0"/>
              <a:cs typeface="Times New Roman" panose="02020603050405020304" pitchFamily="18" charset="0"/>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6051EA1D-85D8-D1DF-17A5-9A29F2470A02}"/>
              </a:ext>
            </a:extLst>
          </p:cNvPr>
          <p:cNvSpPr txBox="1"/>
          <p:nvPr/>
        </p:nvSpPr>
        <p:spPr>
          <a:xfrm>
            <a:off x="1102939" y="4052388"/>
            <a:ext cx="3432286" cy="523220"/>
          </a:xfrm>
          <a:prstGeom prst="rect">
            <a:avLst/>
          </a:prstGeom>
          <a:noFill/>
        </p:spPr>
        <p:txBody>
          <a:bodyPr wrap="none" rtlCol="0">
            <a:spAutoFit/>
          </a:bodyPr>
          <a:lstStyle/>
          <a:p>
            <a:r>
              <a:rPr lang="en-US" sz="2800" b="1" dirty="0">
                <a:latin typeface="Times New Roman" panose="02020603050405020304" pitchFamily="18" charset="0"/>
                <a:cs typeface="Times New Roman" panose="02020603050405020304" pitchFamily="18" charset="0"/>
              </a:rPr>
              <a:t>Name -</a:t>
            </a:r>
            <a:r>
              <a:rPr lang="en-US" sz="2800" dirty="0">
                <a:latin typeface="Times New Roman" panose="02020603050405020304" pitchFamily="18" charset="0"/>
                <a:cs typeface="Times New Roman" panose="02020603050405020304" pitchFamily="18" charset="0"/>
              </a:rPr>
              <a:t> SHOAIB S W</a:t>
            </a:r>
            <a:endParaRPr lang="en-IN" sz="2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514A33B-2D35-DB53-1BC9-5CFB00B276C3}"/>
              </a:ext>
            </a:extLst>
          </p:cNvPr>
          <p:cNvSpPr txBox="1"/>
          <p:nvPr/>
        </p:nvSpPr>
        <p:spPr>
          <a:xfrm>
            <a:off x="1102939" y="4704066"/>
            <a:ext cx="9888156" cy="954107"/>
          </a:xfrm>
          <a:prstGeom prst="rect">
            <a:avLst/>
          </a:prstGeom>
          <a:noFill/>
        </p:spPr>
        <p:txBody>
          <a:bodyPr wrap="none" rtlCol="0">
            <a:spAutoFit/>
          </a:bodyPr>
          <a:lstStyle/>
          <a:p>
            <a:r>
              <a:rPr lang="en-US" sz="2800" b="1" dirty="0">
                <a:latin typeface="Times New Roman" panose="02020603050405020304" pitchFamily="18" charset="0"/>
                <a:cs typeface="Times New Roman" panose="02020603050405020304" pitchFamily="18" charset="0"/>
              </a:rPr>
              <a:t>College Name - </a:t>
            </a:r>
            <a:r>
              <a:rPr lang="en-US" sz="2800" dirty="0">
                <a:latin typeface="Times New Roman" panose="02020603050405020304" pitchFamily="18" charset="0"/>
                <a:cs typeface="Times New Roman" panose="02020603050405020304" pitchFamily="18" charset="0"/>
              </a:rPr>
              <a:t>East Point College of Engineering and Technology</a:t>
            </a:r>
          </a:p>
          <a:p>
            <a:r>
              <a:rPr lang="en-US" sz="2800" dirty="0">
                <a:latin typeface="Times New Roman" panose="02020603050405020304" pitchFamily="18" charset="0"/>
                <a:cs typeface="Times New Roman" panose="02020603050405020304" pitchFamily="18" charset="0"/>
              </a:rPr>
              <a:t>                                                  Bengaluru , Karnataka</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675957" y="2201192"/>
            <a:ext cx="6881839" cy="3387014"/>
          </a:xfrm>
        </p:spPr>
        <p:txBody>
          <a:bodyPr>
            <a:normAutofit/>
          </a:bodyPr>
          <a:lstStyle/>
          <a:p>
            <a:pPr>
              <a:lnSpc>
                <a:spcPct val="150000"/>
              </a:lnSpc>
            </a:pPr>
            <a:r>
              <a:rPr lang="en-IN" sz="1800" dirty="0">
                <a:latin typeface="Times New Roman" panose="02020603050405020304" pitchFamily="18" charset="0"/>
                <a:cs typeface="Times New Roman" panose="02020603050405020304" pitchFamily="18" charset="0"/>
              </a:rPr>
              <a:t>Healthcare organizations collect large amounts of patient and doctor visit data, but it can be difficult to identify meaningful patterns from raw data.</a:t>
            </a:r>
          </a:p>
          <a:p>
            <a:pPr>
              <a:lnSpc>
                <a:spcPct val="150000"/>
              </a:lnSpc>
            </a:pPr>
            <a:r>
              <a:rPr lang="en-IN" sz="1800" dirty="0">
                <a:latin typeface="Times New Roman" panose="02020603050405020304" pitchFamily="18" charset="0"/>
                <a:cs typeface="Times New Roman" panose="02020603050405020304" pitchFamily="18" charset="0"/>
              </a:rPr>
              <a:t>This project aims to analyze doctor visit data to understand healthcare utilization patterns and examine how factors such as age, gender, income, illness, health status, and chronic conditions are related to doctor visits.</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697719" y="67665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pPr lvl="0"/>
            <a:r>
              <a:rPr lang="en-GB" dirty="0"/>
              <a:t>Project Description</a:t>
            </a:r>
            <a:br>
              <a:rPr lang="en-GB" dirty="0"/>
            </a:br>
            <a:br>
              <a:rPr lang="en-GB" dirty="0"/>
            </a:br>
            <a:endParaRPr lang="en-IN" sz="2000" b="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6D27699C-CD0D-B0CB-689B-3968486DB112}"/>
              </a:ext>
            </a:extLst>
          </p:cNvPr>
          <p:cNvSpPr txBox="1"/>
          <p:nvPr/>
        </p:nvSpPr>
        <p:spPr>
          <a:xfrm>
            <a:off x="660399" y="2016133"/>
            <a:ext cx="9145837" cy="6689460"/>
          </a:xfrm>
          <a:prstGeom prst="rect">
            <a:avLst/>
          </a:prstGeom>
          <a:noFill/>
        </p:spPr>
        <p:txBody>
          <a:bodyPr wrap="none" rtlCol="0">
            <a:spAutoFit/>
          </a:bodyPr>
          <a:lstStyle/>
          <a:p>
            <a:pPr marL="342900" indent="-342900">
              <a:lnSpc>
                <a:spcPct val="150000"/>
              </a:lnSpc>
              <a:buClr>
                <a:srgbClr val="00B050"/>
              </a:buClr>
              <a:buFont typeface="+mj-lt"/>
              <a:buAutoNum type="arabicPeriod"/>
            </a:pPr>
            <a:r>
              <a:rPr lang="en-IN" dirty="0">
                <a:latin typeface="Times New Roman" panose="02020603050405020304" pitchFamily="18" charset="0"/>
                <a:cs typeface="Times New Roman" panose="02020603050405020304" pitchFamily="18" charset="0"/>
              </a:rPr>
              <a:t>Analyzes a healthcare dataset containing patient and doctor visit information. </a:t>
            </a:r>
          </a:p>
          <a:p>
            <a:pPr marL="342900" indent="-342900">
              <a:lnSpc>
                <a:spcPct val="150000"/>
              </a:lnSpc>
              <a:buClr>
                <a:srgbClr val="00B050"/>
              </a:buClr>
              <a:buFont typeface="+mj-lt"/>
              <a:buAutoNum type="arabicPeriod"/>
            </a:pPr>
            <a:r>
              <a:rPr lang="en-IN" dirty="0">
                <a:latin typeface="Times New Roman" panose="02020603050405020304" pitchFamily="18" charset="0"/>
                <a:cs typeface="Times New Roman" panose="02020603050405020304" pitchFamily="18" charset="0"/>
              </a:rPr>
              <a:t>Includes variables such as age, gender, income, illness, health status, and chronic conditions. </a:t>
            </a:r>
          </a:p>
          <a:p>
            <a:pPr marL="342900" indent="-342900">
              <a:lnSpc>
                <a:spcPct val="150000"/>
              </a:lnSpc>
              <a:buClr>
                <a:srgbClr val="00B050"/>
              </a:buClr>
              <a:buFont typeface="+mj-lt"/>
              <a:buAutoNum type="arabicPeriod"/>
            </a:pPr>
            <a:r>
              <a:rPr lang="en-IN" dirty="0">
                <a:latin typeface="Times New Roman" panose="02020603050405020304" pitchFamily="18" charset="0"/>
                <a:cs typeface="Times New Roman" panose="02020603050405020304" pitchFamily="18" charset="0"/>
              </a:rPr>
              <a:t>Performs data cleaning and data preparation. </a:t>
            </a:r>
          </a:p>
          <a:p>
            <a:pPr marL="342900" indent="-342900">
              <a:lnSpc>
                <a:spcPct val="150000"/>
              </a:lnSpc>
              <a:buClr>
                <a:srgbClr val="00B050"/>
              </a:buClr>
              <a:buFont typeface="+mj-lt"/>
              <a:buAutoNum type="arabicPeriod"/>
            </a:pPr>
            <a:r>
              <a:rPr lang="en-IN" dirty="0">
                <a:latin typeface="Times New Roman" panose="02020603050405020304" pitchFamily="18" charset="0"/>
                <a:cs typeface="Times New Roman" panose="02020603050405020304" pitchFamily="18" charset="0"/>
              </a:rPr>
              <a:t>Applies descriptive statistical analysis to understand the dataset. </a:t>
            </a:r>
          </a:p>
          <a:p>
            <a:pPr marL="342900" indent="-342900">
              <a:lnSpc>
                <a:spcPct val="150000"/>
              </a:lnSpc>
              <a:buClr>
                <a:srgbClr val="00B050"/>
              </a:buClr>
              <a:buFont typeface="+mj-lt"/>
              <a:buAutoNum type="arabicPeriod"/>
            </a:pPr>
            <a:r>
              <a:rPr lang="en-IN" dirty="0">
                <a:latin typeface="Times New Roman" panose="02020603050405020304" pitchFamily="18" charset="0"/>
                <a:cs typeface="Times New Roman" panose="02020603050405020304" pitchFamily="18" charset="0"/>
              </a:rPr>
              <a:t>Performs univariate, bivariate, and multivariate analysis.</a:t>
            </a:r>
          </a:p>
          <a:p>
            <a:pPr marL="342900" indent="-342900">
              <a:lnSpc>
                <a:spcPct val="150000"/>
              </a:lnSpc>
              <a:buClr>
                <a:srgbClr val="00B050"/>
              </a:buClr>
              <a:buFont typeface="+mj-lt"/>
              <a:buAutoNum type="arabicPeriod"/>
            </a:pPr>
            <a:r>
              <a:rPr lang="en-IN" dirty="0">
                <a:latin typeface="Times New Roman" panose="02020603050405020304" pitchFamily="18" charset="0"/>
                <a:cs typeface="Times New Roman" panose="02020603050405020304" pitchFamily="18" charset="0"/>
              </a:rPr>
              <a:t>Uses different data visualization techniques to identify patterns and relationships. </a:t>
            </a:r>
          </a:p>
          <a:p>
            <a:pPr marL="342900" indent="-342900">
              <a:lnSpc>
                <a:spcPct val="150000"/>
              </a:lnSpc>
              <a:buClr>
                <a:srgbClr val="00B050"/>
              </a:buClr>
              <a:buFont typeface="+mj-lt"/>
              <a:buAutoNum type="arabicPeriod"/>
            </a:pPr>
            <a:r>
              <a:rPr lang="en-IN" dirty="0">
                <a:latin typeface="Times New Roman" panose="02020603050405020304" pitchFamily="18" charset="0"/>
                <a:cs typeface="Times New Roman" panose="02020603050405020304" pitchFamily="18" charset="0"/>
              </a:rPr>
              <a:t>Analyzes factors associated with doctor visits and healthcare utilization.</a:t>
            </a:r>
          </a:p>
          <a:p>
            <a:pPr marL="342900" indent="-342900">
              <a:lnSpc>
                <a:spcPct val="150000"/>
              </a:lnSpc>
              <a:buClr>
                <a:srgbClr val="00B050"/>
              </a:buClr>
              <a:buFont typeface="+mj-lt"/>
              <a:buAutoNum type="arabicPeriod"/>
            </a:pPr>
            <a:r>
              <a:rPr lang="en-IN" dirty="0">
                <a:latin typeface="Times New Roman" panose="02020603050405020304" pitchFamily="18" charset="0"/>
                <a:cs typeface="Times New Roman" panose="02020603050405020304" pitchFamily="18" charset="0"/>
              </a:rPr>
              <a:t>Implemented using Python, Pandas, NumPy, Matplotlib, and Seaborn.</a:t>
            </a: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2010020"/>
            <a:ext cx="7904481" cy="3990023"/>
          </a:xfrm>
        </p:spPr>
        <p:txBody>
          <a:bodyPr>
            <a:normAutofit fontScale="92500"/>
          </a:bodyPr>
          <a:lstStyle/>
          <a:p>
            <a:pPr lvl="0">
              <a:lnSpc>
                <a:spcPct val="150000"/>
              </a:lnSpc>
            </a:pPr>
            <a:r>
              <a:rPr lang="en-IN" sz="1900" b="1" dirty="0">
                <a:latin typeface="Times New Roman" panose="02020603050405020304" pitchFamily="18" charset="0"/>
                <a:cs typeface="Times New Roman" panose="02020603050405020304" pitchFamily="18" charset="0"/>
              </a:rPr>
              <a:t>Healthcare Analysts</a:t>
            </a:r>
            <a:r>
              <a:rPr lang="en-IN" sz="1900" dirty="0">
                <a:latin typeface="Times New Roman" panose="02020603050405020304" pitchFamily="18" charset="0"/>
                <a:cs typeface="Times New Roman" panose="02020603050405020304" pitchFamily="18" charset="0"/>
              </a:rPr>
              <a:t> – Analyze patient and doctor visit data. </a:t>
            </a:r>
          </a:p>
          <a:p>
            <a:pPr lvl="0">
              <a:lnSpc>
                <a:spcPct val="150000"/>
              </a:lnSpc>
            </a:pPr>
            <a:r>
              <a:rPr lang="en-IN" sz="1900" b="1" dirty="0">
                <a:latin typeface="Times New Roman" panose="02020603050405020304" pitchFamily="18" charset="0"/>
                <a:cs typeface="Times New Roman" panose="02020603050405020304" pitchFamily="18" charset="0"/>
              </a:rPr>
              <a:t>Hospitals and Healthcare Organizations</a:t>
            </a:r>
            <a:r>
              <a:rPr lang="en-IN" sz="1900" dirty="0">
                <a:latin typeface="Times New Roman" panose="02020603050405020304" pitchFamily="18" charset="0"/>
                <a:cs typeface="Times New Roman" panose="02020603050405020304" pitchFamily="18" charset="0"/>
              </a:rPr>
              <a:t> – Understand healthcare utilization patterns. </a:t>
            </a:r>
          </a:p>
          <a:p>
            <a:pPr lvl="0">
              <a:lnSpc>
                <a:spcPct val="150000"/>
              </a:lnSpc>
            </a:pPr>
            <a:r>
              <a:rPr lang="en-IN" sz="1900" b="1" dirty="0">
                <a:latin typeface="Times New Roman" panose="02020603050405020304" pitchFamily="18" charset="0"/>
                <a:cs typeface="Times New Roman" panose="02020603050405020304" pitchFamily="18" charset="0"/>
              </a:rPr>
              <a:t>Healthcare Researchers</a:t>
            </a:r>
            <a:r>
              <a:rPr lang="en-IN" sz="1900" dirty="0">
                <a:latin typeface="Times New Roman" panose="02020603050405020304" pitchFamily="18" charset="0"/>
                <a:cs typeface="Times New Roman" panose="02020603050405020304" pitchFamily="18" charset="0"/>
              </a:rPr>
              <a:t> – Study patterns and relationships in healthcare data. </a:t>
            </a:r>
          </a:p>
          <a:p>
            <a:pPr lvl="0">
              <a:lnSpc>
                <a:spcPct val="150000"/>
              </a:lnSpc>
            </a:pPr>
            <a:r>
              <a:rPr lang="en-IN" sz="1900" b="1" dirty="0">
                <a:latin typeface="Times New Roman" panose="02020603050405020304" pitchFamily="18" charset="0"/>
                <a:cs typeface="Times New Roman" panose="02020603050405020304" pitchFamily="18" charset="0"/>
              </a:rPr>
              <a:t>Healthcare Administrators</a:t>
            </a:r>
            <a:r>
              <a:rPr lang="en-IN" sz="1900" dirty="0">
                <a:latin typeface="Times New Roman" panose="02020603050405020304" pitchFamily="18" charset="0"/>
                <a:cs typeface="Times New Roman" panose="02020603050405020304" pitchFamily="18" charset="0"/>
              </a:rPr>
              <a:t> – Use analytical insights for healthcare planning. </a:t>
            </a:r>
          </a:p>
          <a:p>
            <a:pPr lvl="0">
              <a:lnSpc>
                <a:spcPct val="150000"/>
              </a:lnSpc>
            </a:pPr>
            <a:r>
              <a:rPr lang="en-IN" sz="1900" b="1" dirty="0">
                <a:latin typeface="Times New Roman" panose="02020603050405020304" pitchFamily="18" charset="0"/>
                <a:cs typeface="Times New Roman" panose="02020603050405020304" pitchFamily="18" charset="0"/>
              </a:rPr>
              <a:t>Data Analytics Students</a:t>
            </a:r>
            <a:r>
              <a:rPr lang="en-IN" sz="1900" dirty="0">
                <a:latin typeface="Times New Roman" panose="02020603050405020304" pitchFamily="18" charset="0"/>
                <a:cs typeface="Times New Roman" panose="02020603050405020304" pitchFamily="18" charset="0"/>
              </a:rPr>
              <a:t> – Learn and demonstrate healthcare data analysis techniques.</a:t>
            </a:r>
          </a:p>
          <a:p>
            <a:pPr algn="just">
              <a:lnSpc>
                <a:spcPct val="150000"/>
              </a:lnSpc>
            </a:pPr>
            <a:endParaRPr lang="en-IN" sz="1800" dirty="0">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01347" y="764650"/>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071753" y="1721809"/>
            <a:ext cx="9027702" cy="5243448"/>
          </a:xfrm>
        </p:spPr>
        <p:txBody>
          <a:bodyPr/>
          <a:lstStyle/>
          <a:p>
            <a:pPr lvl="0"/>
            <a:r>
              <a:rPr lang="en-IN" sz="1800" b="1" dirty="0">
                <a:latin typeface="Times New Roman" panose="02020603050405020304" pitchFamily="18" charset="0"/>
                <a:cs typeface="Times New Roman" panose="02020603050405020304" pitchFamily="18" charset="0"/>
              </a:rPr>
              <a:t>Programming Language:</a:t>
            </a:r>
            <a:r>
              <a:rPr lang="en-IN" sz="1800" dirty="0">
                <a:latin typeface="Times New Roman" panose="02020603050405020304" pitchFamily="18" charset="0"/>
                <a:cs typeface="Times New Roman" panose="02020603050405020304" pitchFamily="18" charset="0"/>
              </a:rPr>
              <a:t> Python </a:t>
            </a:r>
          </a:p>
          <a:p>
            <a:pPr lvl="0"/>
            <a:r>
              <a:rPr lang="en-IN" sz="1800" b="1" dirty="0">
                <a:latin typeface="Times New Roman" panose="02020603050405020304" pitchFamily="18" charset="0"/>
                <a:cs typeface="Times New Roman" panose="02020603050405020304" pitchFamily="18" charset="0"/>
              </a:rPr>
              <a:t>Data Processing:</a:t>
            </a:r>
            <a:r>
              <a:rPr lang="en-IN" sz="1800" dirty="0">
                <a:latin typeface="Times New Roman" panose="02020603050405020304" pitchFamily="18" charset="0"/>
                <a:cs typeface="Times New Roman" panose="02020603050405020304" pitchFamily="18" charset="0"/>
              </a:rPr>
              <a:t> Pandas, NumPy </a:t>
            </a:r>
          </a:p>
          <a:p>
            <a:pPr lvl="0"/>
            <a:r>
              <a:rPr lang="en-IN" sz="1800" b="1" dirty="0">
                <a:latin typeface="Times New Roman" panose="02020603050405020304" pitchFamily="18" charset="0"/>
                <a:cs typeface="Times New Roman" panose="02020603050405020304" pitchFamily="18" charset="0"/>
              </a:rPr>
              <a:t>Data Visualization:</a:t>
            </a:r>
            <a:r>
              <a:rPr lang="en-IN" sz="1800" dirty="0">
                <a:latin typeface="Times New Roman" panose="02020603050405020304" pitchFamily="18" charset="0"/>
                <a:cs typeface="Times New Roman" panose="02020603050405020304" pitchFamily="18" charset="0"/>
              </a:rPr>
              <a:t> Matplotlib, Seaborn </a:t>
            </a:r>
          </a:p>
          <a:p>
            <a:pPr lvl="0"/>
            <a:r>
              <a:rPr lang="en-IN" sz="1800" b="1" dirty="0">
                <a:latin typeface="Times New Roman" panose="02020603050405020304" pitchFamily="18" charset="0"/>
                <a:cs typeface="Times New Roman" panose="02020603050405020304" pitchFamily="18" charset="0"/>
              </a:rPr>
              <a:t>Development Platform:</a:t>
            </a:r>
            <a:r>
              <a:rPr lang="en-IN" sz="1800" dirty="0">
                <a:latin typeface="Times New Roman" panose="02020603050405020304" pitchFamily="18" charset="0"/>
                <a:cs typeface="Times New Roman" panose="02020603050405020304" pitchFamily="18" charset="0"/>
              </a:rPr>
              <a:t> Google Colab </a:t>
            </a:r>
          </a:p>
          <a:p>
            <a:pPr lvl="0"/>
            <a:r>
              <a:rPr lang="en-IN" sz="1800" b="1" dirty="0">
                <a:latin typeface="Times New Roman" panose="02020603050405020304" pitchFamily="18" charset="0"/>
                <a:cs typeface="Times New Roman" panose="02020603050405020304" pitchFamily="18" charset="0"/>
              </a:rPr>
              <a:t>Techniques:</a:t>
            </a:r>
            <a:r>
              <a:rPr lang="en-IN" sz="1800" dirty="0">
                <a:latin typeface="Times New Roman" panose="02020603050405020304" pitchFamily="18" charset="0"/>
                <a:cs typeface="Times New Roman" panose="02020603050405020304" pitchFamily="18" charset="0"/>
              </a:rPr>
              <a:t> Data Cleaning, Data Preparation, Statistical Analysis, and Data Visualization</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934269"/>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hlinkClick r:id="rId3"/>
              </a:rPr>
              <a:t> </a:t>
            </a:r>
            <a:r>
              <a:rPr lang="en-GB" sz="2000" b="0" u="sng" dirty="0">
                <a:solidFill>
                  <a:srgbClr val="0070C0"/>
                </a:solidFill>
                <a:hlinkClick r:id="rId3"/>
              </a:rPr>
              <a:t>Demo Link</a:t>
            </a:r>
            <a:endParaRPr lang="en-IN" b="0" u="sng" dirty="0">
              <a:solidFill>
                <a:srgbClr val="0070C0"/>
              </a:solidFill>
            </a:endParaRPr>
          </a:p>
        </p:txBody>
      </p:sp>
      <p:pic>
        <p:nvPicPr>
          <p:cNvPr id="6" name="Picture 5">
            <a:extLst>
              <a:ext uri="{FF2B5EF4-FFF2-40B4-BE49-F238E27FC236}">
                <a16:creationId xmlns:a16="http://schemas.microsoft.com/office/drawing/2014/main" id="{E1D50CFD-BFCC-494E-D23F-7E080119AAA8}"/>
              </a:ext>
            </a:extLst>
          </p:cNvPr>
          <p:cNvPicPr>
            <a:picLocks noChangeAspect="1"/>
          </p:cNvPicPr>
          <p:nvPr/>
        </p:nvPicPr>
        <p:blipFill>
          <a:blip r:embed="rId4"/>
          <a:srcRect t="2814" r="35332"/>
          <a:stretch>
            <a:fillRect/>
          </a:stretch>
        </p:blipFill>
        <p:spPr>
          <a:xfrm>
            <a:off x="245676" y="1299008"/>
            <a:ext cx="5701003" cy="4812543"/>
          </a:xfrm>
          <a:prstGeom prst="rect">
            <a:avLst/>
          </a:prstGeom>
        </p:spPr>
      </p:pic>
      <p:pic>
        <p:nvPicPr>
          <p:cNvPr id="12" name="Picture 11">
            <a:extLst>
              <a:ext uri="{FF2B5EF4-FFF2-40B4-BE49-F238E27FC236}">
                <a16:creationId xmlns:a16="http://schemas.microsoft.com/office/drawing/2014/main" id="{3C221465-1D8D-0C45-41AE-EAE0166147AD}"/>
              </a:ext>
            </a:extLst>
          </p:cNvPr>
          <p:cNvPicPr>
            <a:picLocks noChangeAspect="1"/>
          </p:cNvPicPr>
          <p:nvPr/>
        </p:nvPicPr>
        <p:blipFill>
          <a:blip r:embed="rId5"/>
          <a:srcRect r="36932"/>
          <a:stretch>
            <a:fillRect/>
          </a:stretch>
        </p:blipFill>
        <p:spPr>
          <a:xfrm>
            <a:off x="6170014" y="1299008"/>
            <a:ext cx="5701004" cy="483618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59473-2713-8FB6-4C74-7FE618794B3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D6F61F2-B43E-8FCF-FE4A-6286A7F0279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CEAA5D5-3AE2-352E-C980-BD12D763CCF2}"/>
              </a:ext>
            </a:extLst>
          </p:cNvPr>
          <p:cNvSpPr>
            <a:spLocks noGrp="1"/>
          </p:cNvSpPr>
          <p:nvPr>
            <p:ph type="title"/>
          </p:nvPr>
        </p:nvSpPr>
        <p:spPr>
          <a:xfrm>
            <a:off x="422959" y="289560"/>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8F529F83-DB4D-111C-35CA-EB2FF7894AB4}"/>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DD5F374-B62B-E390-B28D-C95A146266C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DDCB7938-3BF4-6774-9B4A-481E3401B59C}"/>
              </a:ext>
            </a:extLst>
          </p:cNvPr>
          <p:cNvSpPr txBox="1">
            <a:spLocks/>
          </p:cNvSpPr>
          <p:nvPr/>
        </p:nvSpPr>
        <p:spPr>
          <a:xfrm>
            <a:off x="320982" y="6022354"/>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hlinkClick r:id="rId3"/>
              </a:rPr>
              <a:t> </a:t>
            </a:r>
            <a:r>
              <a:rPr lang="en-GB" sz="2000" b="0" u="sng" dirty="0">
                <a:solidFill>
                  <a:srgbClr val="0070C0"/>
                </a:solidFill>
                <a:hlinkClick r:id="rId3"/>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34354F97-0625-7FEE-FF2A-40EAB260A3C1}"/>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496EDD7A-AACF-55B3-8D59-F599509E87DE}"/>
              </a:ext>
            </a:extLst>
          </p:cNvPr>
          <p:cNvPicPr>
            <a:picLocks noChangeAspect="1"/>
          </p:cNvPicPr>
          <p:nvPr/>
        </p:nvPicPr>
        <p:blipFill>
          <a:blip r:embed="rId4"/>
          <a:srcRect r="32659"/>
          <a:stretch>
            <a:fillRect/>
          </a:stretch>
        </p:blipFill>
        <p:spPr>
          <a:xfrm>
            <a:off x="320982" y="1364730"/>
            <a:ext cx="5600847" cy="4918799"/>
          </a:xfrm>
          <a:prstGeom prst="rect">
            <a:avLst/>
          </a:prstGeom>
        </p:spPr>
      </p:pic>
      <p:pic>
        <p:nvPicPr>
          <p:cNvPr id="11" name="Picture 10">
            <a:extLst>
              <a:ext uri="{FF2B5EF4-FFF2-40B4-BE49-F238E27FC236}">
                <a16:creationId xmlns:a16="http://schemas.microsoft.com/office/drawing/2014/main" id="{A1292E0C-FE1C-38DC-F024-DA9C34A41A91}"/>
              </a:ext>
            </a:extLst>
          </p:cNvPr>
          <p:cNvPicPr>
            <a:picLocks noChangeAspect="1"/>
          </p:cNvPicPr>
          <p:nvPr/>
        </p:nvPicPr>
        <p:blipFill>
          <a:blip r:embed="rId5"/>
          <a:srcRect r="22710"/>
          <a:stretch>
            <a:fillRect/>
          </a:stretch>
        </p:blipFill>
        <p:spPr>
          <a:xfrm>
            <a:off x="6096001" y="1364730"/>
            <a:ext cx="5775018" cy="4918799"/>
          </a:xfrm>
          <a:prstGeom prst="rect">
            <a:avLst/>
          </a:prstGeom>
        </p:spPr>
      </p:pic>
    </p:spTree>
    <p:extLst>
      <p:ext uri="{BB962C8B-B14F-4D97-AF65-F5344CB8AC3E}">
        <p14:creationId xmlns:p14="http://schemas.microsoft.com/office/powerpoint/2010/main" val="2482088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23144-1C02-50DE-9002-A7C68B6DC7F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8A7DBEA-63B0-6DE6-800D-1BA74A8F0C3F}"/>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C7EE8DA-1517-EB19-1389-2530461FB711}"/>
              </a:ext>
            </a:extLst>
          </p:cNvPr>
          <p:cNvSpPr>
            <a:spLocks noGrp="1"/>
          </p:cNvSpPr>
          <p:nvPr>
            <p:ph type="title"/>
          </p:nvPr>
        </p:nvSpPr>
        <p:spPr>
          <a:xfrm>
            <a:off x="422958" y="193040"/>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9E604534-606C-14FC-9B01-740D4FFBB2E6}"/>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361EDD26-0B03-0F5E-3817-C641FBC1B0E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A49D32E2-457A-FC0C-7AD3-ECA865CFA7E5}"/>
              </a:ext>
            </a:extLst>
          </p:cNvPr>
          <p:cNvSpPr txBox="1">
            <a:spLocks/>
          </p:cNvSpPr>
          <p:nvPr/>
        </p:nvSpPr>
        <p:spPr>
          <a:xfrm>
            <a:off x="501940" y="6194748"/>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sz="2400" b="0" u="sng" dirty="0">
                <a:solidFill>
                  <a:srgbClr val="0070C0"/>
                </a:solidFill>
                <a:hlinkClick r:id="rId3"/>
              </a:rPr>
              <a:t>Demo Link</a:t>
            </a:r>
            <a:endParaRPr lang="en-IN" sz="2400" b="0" u="sng" dirty="0">
              <a:solidFill>
                <a:srgbClr val="0070C0"/>
              </a:solidFill>
            </a:endParaRPr>
          </a:p>
        </p:txBody>
      </p:sp>
      <p:sp>
        <p:nvSpPr>
          <p:cNvPr id="10" name="Text Placeholder 1">
            <a:extLst>
              <a:ext uri="{FF2B5EF4-FFF2-40B4-BE49-F238E27FC236}">
                <a16:creationId xmlns:a16="http://schemas.microsoft.com/office/drawing/2014/main" id="{34FD9A70-4E7E-25A1-87A4-853901D04312}"/>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2" name="Picture 1">
            <a:extLst>
              <a:ext uri="{FF2B5EF4-FFF2-40B4-BE49-F238E27FC236}">
                <a16:creationId xmlns:a16="http://schemas.microsoft.com/office/drawing/2014/main" id="{59C4B0EF-F89C-BFF3-BB6C-694D89E25AA3}"/>
              </a:ext>
            </a:extLst>
          </p:cNvPr>
          <p:cNvPicPr>
            <a:picLocks noChangeAspect="1"/>
          </p:cNvPicPr>
          <p:nvPr/>
        </p:nvPicPr>
        <p:blipFill>
          <a:blip r:embed="rId4"/>
          <a:stretch>
            <a:fillRect/>
          </a:stretch>
        </p:blipFill>
        <p:spPr>
          <a:xfrm>
            <a:off x="6157722" y="3700728"/>
            <a:ext cx="5259355" cy="2771192"/>
          </a:xfrm>
          <a:prstGeom prst="rect">
            <a:avLst/>
          </a:prstGeom>
        </p:spPr>
      </p:pic>
      <p:pic>
        <p:nvPicPr>
          <p:cNvPr id="6" name="Picture 5">
            <a:extLst>
              <a:ext uri="{FF2B5EF4-FFF2-40B4-BE49-F238E27FC236}">
                <a16:creationId xmlns:a16="http://schemas.microsoft.com/office/drawing/2014/main" id="{4A72E0A3-1E2D-4789-CBBB-F16C4F1A7439}"/>
              </a:ext>
            </a:extLst>
          </p:cNvPr>
          <p:cNvPicPr>
            <a:picLocks noChangeAspect="1"/>
          </p:cNvPicPr>
          <p:nvPr/>
        </p:nvPicPr>
        <p:blipFill>
          <a:blip r:embed="rId5"/>
          <a:stretch>
            <a:fillRect/>
          </a:stretch>
        </p:blipFill>
        <p:spPr>
          <a:xfrm>
            <a:off x="397799" y="1072178"/>
            <a:ext cx="5093867" cy="2474943"/>
          </a:xfrm>
          <a:prstGeom prst="rect">
            <a:avLst/>
          </a:prstGeom>
        </p:spPr>
      </p:pic>
      <p:pic>
        <p:nvPicPr>
          <p:cNvPr id="12" name="Picture 11">
            <a:extLst>
              <a:ext uri="{FF2B5EF4-FFF2-40B4-BE49-F238E27FC236}">
                <a16:creationId xmlns:a16="http://schemas.microsoft.com/office/drawing/2014/main" id="{809DF3B6-EF62-D071-4F90-B4C198F4AC31}"/>
              </a:ext>
            </a:extLst>
          </p:cNvPr>
          <p:cNvPicPr>
            <a:picLocks noChangeAspect="1"/>
          </p:cNvPicPr>
          <p:nvPr/>
        </p:nvPicPr>
        <p:blipFill>
          <a:blip r:embed="rId6"/>
          <a:stretch>
            <a:fillRect/>
          </a:stretch>
        </p:blipFill>
        <p:spPr>
          <a:xfrm>
            <a:off x="6700336" y="727788"/>
            <a:ext cx="3662848" cy="2771192"/>
          </a:xfrm>
          <a:prstGeom prst="rect">
            <a:avLst/>
          </a:prstGeom>
        </p:spPr>
      </p:pic>
      <p:pic>
        <p:nvPicPr>
          <p:cNvPr id="13" name="Picture 12">
            <a:extLst>
              <a:ext uri="{FF2B5EF4-FFF2-40B4-BE49-F238E27FC236}">
                <a16:creationId xmlns:a16="http://schemas.microsoft.com/office/drawing/2014/main" id="{58F90069-C814-C2FE-676F-13DF98DFD4C1}"/>
              </a:ext>
            </a:extLst>
          </p:cNvPr>
          <p:cNvPicPr>
            <a:picLocks noChangeAspect="1"/>
          </p:cNvPicPr>
          <p:nvPr/>
        </p:nvPicPr>
        <p:blipFill>
          <a:blip r:embed="rId7"/>
          <a:stretch>
            <a:fillRect/>
          </a:stretch>
        </p:blipFill>
        <p:spPr>
          <a:xfrm>
            <a:off x="397798" y="3703443"/>
            <a:ext cx="5093867" cy="2334983"/>
          </a:xfrm>
          <a:prstGeom prst="rect">
            <a:avLst/>
          </a:prstGeom>
        </p:spPr>
      </p:pic>
    </p:spTree>
    <p:extLst>
      <p:ext uri="{BB962C8B-B14F-4D97-AF65-F5344CB8AC3E}">
        <p14:creationId xmlns:p14="http://schemas.microsoft.com/office/powerpoint/2010/main" val="3412769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21296" y="1361138"/>
            <a:ext cx="10991461" cy="1534288"/>
          </a:xfrm>
          <a:prstGeom prst="rect">
            <a:avLst/>
          </a:prstGeom>
        </p:spPr>
        <p:txBody>
          <a:bodyPr anchor="ctr">
            <a:noAutofit/>
          </a:bodyPr>
          <a:lstStyle/>
          <a:p>
            <a:pPr algn="ctr"/>
            <a:r>
              <a:rPr lang="en-US" sz="6600" b="1" dirty="0">
                <a:solidFill>
                  <a:srgbClr val="7030A0"/>
                </a:solidFill>
                <a:latin typeface="Times New Roman" panose="02020603050405020304" pitchFamily="18" charset="0"/>
                <a:cs typeface="Times New Roman" panose="02020603050405020304" pitchFamily="18" charset="0"/>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1445036" y="3962572"/>
            <a:ext cx="8994711" cy="1645091"/>
          </a:xfrm>
        </p:spPr>
        <p:txBody>
          <a:bodyPr>
            <a:noAutofit/>
          </a:bodyPr>
          <a:lstStyle/>
          <a:p>
            <a:r>
              <a:rPr lang="en-US" sz="2400" b="1" dirty="0">
                <a:solidFill>
                  <a:srgbClr val="FFC000"/>
                </a:solidFill>
                <a:latin typeface="Times New Roman" panose="02020603050405020304" pitchFamily="18" charset="0"/>
                <a:cs typeface="Times New Roman" panose="02020603050405020304" pitchFamily="18" charset="0"/>
              </a:rPr>
              <a:t>GitHub Demo - </a:t>
            </a:r>
            <a:r>
              <a:rPr lang="en-US" sz="2400" dirty="0">
                <a:solidFill>
                  <a:srgbClr val="FFC000"/>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https://github.com/Shoaib05504/Healthcare-Doctor-Visits-Analysis.git </a:t>
            </a:r>
            <a:endParaRPr lang="en-US" sz="2400" dirty="0">
              <a:solidFill>
                <a:srgbClr val="FFC000"/>
              </a:solidFill>
              <a:latin typeface="Times New Roman" panose="02020603050405020304" pitchFamily="18" charset="0"/>
              <a:cs typeface="Times New Roman" panose="02020603050405020304" pitchFamily="18" charset="0"/>
            </a:endParaRP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1786331" y="4416491"/>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3"/>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3100518" y="2871020"/>
            <a:ext cx="5033015" cy="727701"/>
          </a:xfrm>
        </p:spPr>
        <p:txBody>
          <a:bodyPr>
            <a:normAutofit fontScale="92500" lnSpcReduction="10000"/>
          </a:bodyPr>
          <a:lstStyle/>
          <a:p>
            <a:r>
              <a:rPr lang="en-IN" sz="2400" dirty="0">
                <a:latin typeface="Times New Roman" panose="02020603050405020304" pitchFamily="18" charset="0"/>
                <a:cs typeface="Times New Roman" panose="02020603050405020304" pitchFamily="18" charset="0"/>
              </a:rPr>
              <a:t>Healthcare Analytics: Doctor Visits Analysis</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610</TotalTime>
  <Words>328</Words>
  <Application>Microsoft Office PowerPoint</Application>
  <PresentationFormat>Widescreen</PresentationFormat>
  <Paragraphs>39</Paragraphs>
  <Slides>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Times New Roman</vt:lpstr>
      <vt:lpstr>Trebuchet MS</vt:lpstr>
      <vt:lpstr>Wingdings</vt:lpstr>
      <vt:lpstr>Wingdings 3</vt:lpstr>
      <vt:lpstr>Facet</vt:lpstr>
      <vt:lpstr>Project Title - Healthcare Analytics for                             Doctor Visits   </vt:lpstr>
      <vt:lpstr>PROBLEM  STATEMENT</vt:lpstr>
      <vt:lpstr>Project Description  </vt:lpstr>
      <vt:lpstr>WHO ARE THE END USERS?</vt:lpstr>
      <vt:lpstr>Technology Used</vt:lpstr>
      <vt:lpstr>RESULTS </vt:lpstr>
      <vt:lpstr>RESULTS </vt:lpstr>
      <vt:lpstr>RESULTS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Shoaib S W</cp:lastModifiedBy>
  <cp:revision>76</cp:revision>
  <dcterms:created xsi:type="dcterms:W3CDTF">2021-07-11T13:13:15Z</dcterms:created>
  <dcterms:modified xsi:type="dcterms:W3CDTF">2026-10-02T14:24:22Z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